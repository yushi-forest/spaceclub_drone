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学生が0から創る、日本初の屋内ドローンショー</a:t>
            </a:r>
          </a:p>
          <a:p>
            <a:r>
              <a:t>国際ドローン展 2026</a:t>
            </a:r>
          </a:p>
        </p:txBody>
      </p:sp>
      <p:sp>
        <p:nvSpPr>
          <p:cNvPr id="3" name="Subtitle 2"/>
          <p:cNvSpPr>
            <a:spLocks noGrp="1"/>
          </p:cNvSpPr>
          <p:nvPr>
            <p:ph type="subTitle" idx="1"/>
          </p:nvPr>
        </p:nvSpPr>
        <p:spPr/>
        <p:txBody>
          <a:bodyPr/>
          <a:lstStyle/>
          <a:p>
            <a:r>
              <a:t>東京理科大学 創域理工学部 宇宙クラブ</a:t>
            </a:r>
          </a:p>
          <a:p>
            <a:r>
              <a:t>🏆 全日本学生室内飛行ロボットコンテスト 全国4位</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なぜ、「日本初」なのか</a:t>
            </a:r>
          </a:p>
        </p:txBody>
      </p:sp>
      <p:sp>
        <p:nvSpPr>
          <p:cNvPr id="3" name="Content Placeholder 2"/>
          <p:cNvSpPr>
            <a:spLocks noGrp="1"/>
          </p:cNvSpPr>
          <p:nvPr>
            <p:ph idx="1"/>
          </p:nvPr>
        </p:nvSpPr>
        <p:spPr/>
        <p:txBody>
          <a:bodyPr/>
          <a:lstStyle/>
          <a:p>
            <a:r>
              <a:t>学生が機体をゼロから設計・製作し、屋内ドローンショーとして完成させた事例は日本にまだ存在しません。</a:t>
            </a:r>
          </a:p>
          <a:p/>
          <a:p>
            <a:r>
              <a:t>・機体設計：フレームからFC・ESCまで学生が部品選定・組立</a:t>
            </a:r>
          </a:p>
          <a:p>
            <a:r>
              <a:t>・ソフトウェア：ArduPilotベースの自律飛行ファームウェア開発</a:t>
            </a:r>
          </a:p>
          <a:p>
            <a:r>
              <a:t>・ショー演出：群制御・位置推定による3機編隊飛行ショー</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宇宙クラブとは</a:t>
            </a:r>
          </a:p>
        </p:txBody>
      </p:sp>
      <p:sp>
        <p:nvSpPr>
          <p:cNvPr id="3" name="Content Placeholder 2"/>
          <p:cNvSpPr>
            <a:spLocks noGrp="1"/>
          </p:cNvSpPr>
          <p:nvPr>
            <p:ph idx="1"/>
          </p:nvPr>
        </p:nvSpPr>
        <p:spPr/>
        <p:txBody>
          <a:bodyPr/>
          <a:lstStyle/>
          <a:p>
            <a:r>
              <a:t>東京理科大学 創域理工学部に所属する学生団体。</a:t>
            </a:r>
          </a:p>
          <a:p>
            <a:r>
              <a:t>2023年設立以来、航空宇宙分野の知識と実践を通じて次世代のエンジニアを育成しています。</a:t>
            </a:r>
          </a:p>
          <a:p/>
          <a:p>
            <a:r>
              <a:t>・体制：35名（2年生4班・1年生2班）</a:t>
            </a:r>
          </a:p>
          <a:p>
            <a:r>
              <a:t>・開発手法：学部横断での技術連携、自作機体によるアプローチ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活動の変遷</a:t>
            </a:r>
          </a:p>
        </p:txBody>
      </p:sp>
      <p:sp>
        <p:nvSpPr>
          <p:cNvPr id="3" name="Content Placeholder 2"/>
          <p:cNvSpPr>
            <a:spLocks noGrp="1"/>
          </p:cNvSpPr>
          <p:nvPr>
            <p:ph idx="1"/>
          </p:nvPr>
        </p:nvSpPr>
        <p:spPr/>
        <p:txBody>
          <a:bodyPr/>
          <a:lstStyle/>
          <a:p>
            <a:r>
              <a:t>・2023 設立：有翼ロケット研究室の研究支援を目的に発足。地上支援GUI開発、航法誘導制御などに参画。</a:t>
            </a:r>
          </a:p>
          <a:p>
            <a:r>
              <a:t>・2024 転換期：研究室移転に伴い方針転換。ヒコロボへの出場を軸に。</a:t>
            </a:r>
          </a:p>
          <a:p>
            <a:r>
              <a:t>・2025 実績：ビギナー部門 全国4位（東京理科大学記録を樹立）</a:t>
            </a:r>
          </a:p>
          <a:p>
            <a:r>
              <a:t>・2026 挑戦：日本初の学生製屋内ドローンショーに挑戦（6班体制・35名）</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コンテスト実績</a:t>
            </a:r>
          </a:p>
        </p:txBody>
      </p:sp>
      <p:sp>
        <p:nvSpPr>
          <p:cNvPr id="3" name="Content Placeholder 2"/>
          <p:cNvSpPr>
            <a:spLocks noGrp="1"/>
          </p:cNvSpPr>
          <p:nvPr>
            <p:ph idx="1"/>
          </p:nvPr>
        </p:nvSpPr>
        <p:spPr/>
        <p:txBody>
          <a:bodyPr/>
          <a:lstStyle/>
          <a:p>
            <a:r>
              <a:t>全日本学生室内飛行ロボットコンテスト</a:t>
            </a:r>
          </a:p>
          <a:p>
            <a:r>
              <a:t>ビギナー部門 全国4位（東京理科大学記録を樹立）</a:t>
            </a:r>
          </a:p>
          <a:p/>
          <a:p>
            <a:r>
              <a:t>・一般部門1チーム、ビギナー部門3チームが出場</a:t>
            </a:r>
          </a:p>
          <a:p>
            <a:r>
              <a:t>・機体の極限の軽量化と高機動性の両立</a:t>
            </a:r>
          </a:p>
          <a:p>
            <a:r>
              <a:t>・飛行の安定性と安全技術の確保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技術的課題</a:t>
            </a:r>
          </a:p>
        </p:txBody>
      </p:sp>
      <p:sp>
        <p:nvSpPr>
          <p:cNvPr id="3" name="Content Placeholder 2"/>
          <p:cNvSpPr>
            <a:spLocks noGrp="1"/>
          </p:cNvSpPr>
          <p:nvPr>
            <p:ph idx="1"/>
          </p:nvPr>
        </p:nvSpPr>
        <p:spPr/>
        <p:txBody>
          <a:bodyPr/>
          <a:lstStyle/>
          <a:p>
            <a:r>
              <a:t>・機体の超軽量化：推力重量比の最適化と安全マージンの確保</a:t>
            </a:r>
          </a:p>
          <a:p>
            <a:r>
              <a:t>・屋内での高精度な位置推定：GPS非環境下でのオプティカルフローとLiDARの融合</a:t>
            </a:r>
          </a:p>
          <a:p>
            <a:r>
              <a:t>・複数機の自律群制御：機体間の通信と衝突防止アルゴリズム</a:t>
            </a:r>
          </a:p>
          <a:p>
            <a:r>
              <a:t>・安全機能の実装：プロペラガード設計とフェイルセーフ</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安全管理体制</a:t>
            </a:r>
          </a:p>
        </p:txBody>
      </p:sp>
      <p:sp>
        <p:nvSpPr>
          <p:cNvPr id="3" name="Content Placeholder 2"/>
          <p:cNvSpPr>
            <a:spLocks noGrp="1"/>
          </p:cNvSpPr>
          <p:nvPr>
            <p:ph idx="1"/>
          </p:nvPr>
        </p:nvSpPr>
        <p:spPr/>
        <p:txBody>
          <a:bodyPr/>
          <a:lstStyle/>
          <a:p>
            <a:r>
              <a:t>全日本学生室内飛行ロボットコンテストで培ったノウハウを活用</a:t>
            </a:r>
          </a:p>
          <a:p/>
          <a:p>
            <a:r>
              <a:t>・ハードウェア安全：プロペラガード全機装着、350g以下の軽量設計</a:t>
            </a:r>
          </a:p>
          <a:p>
            <a:r>
              <a:t>・運用安全：飛行エリアのネット設置、観客との十分な距離確保、事前テスト</a:t>
            </a:r>
          </a:p>
          <a:p>
            <a:r>
              <a:t>・法令遵守：屋内飛行（航空法対象外）、施設管理者との協議</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スポンサーシップのご提案</a:t>
            </a:r>
          </a:p>
        </p:txBody>
      </p:sp>
      <p:sp>
        <p:nvSpPr>
          <p:cNvPr id="3" name="Subtitle 2"/>
          <p:cNvSpPr>
            <a:spLocks noGrp="1"/>
          </p:cNvSpPr>
          <p:nvPr>
            <p:ph type="subTitle" idx="1"/>
          </p:nvPr>
        </p:nvSpPr>
        <p:spPr/>
        <p:txBody>
          <a:bodyPr/>
          <a:lstStyle/>
          <a:p>
            <a:r>
              <a:t>次世代エンジニアの挑戦を、一緒に支えてください。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なぜ宇宙クラブを支援すべきか</a:t>
            </a:r>
          </a:p>
        </p:txBody>
      </p:sp>
      <p:sp>
        <p:nvSpPr>
          <p:cNvPr id="3" name="Content Placeholder 2"/>
          <p:cNvSpPr>
            <a:spLocks noGrp="1"/>
          </p:cNvSpPr>
          <p:nvPr>
            <p:ph idx="1"/>
          </p:nvPr>
        </p:nvSpPr>
        <p:spPr/>
        <p:txBody>
          <a:bodyPr/>
          <a:lstStyle/>
          <a:p>
            <a:r>
              <a:t>・次世代エンジニア育成：御社の将来のリクルーティングにも直結</a:t>
            </a:r>
          </a:p>
          <a:p>
            <a:r>
              <a:t>・日本初の技術的挑戦：先進的なブランドイメージの訴求</a:t>
            </a:r>
          </a:p>
          <a:p>
            <a:r>
              <a:t>・メディア露出：理大祭の来場者数へのリーチ、高いPR効果</a:t>
            </a:r>
          </a:p>
          <a:p>
            <a:r>
              <a:t>・産学連携：ドローン技術のR&amp;D分野での共同開発のきっかけ</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必要資金の内訳</a:t>
            </a:r>
          </a:p>
        </p:txBody>
      </p:sp>
      <p:sp>
        <p:nvSpPr>
          <p:cNvPr id="3" name="Content Placeholder 2"/>
          <p:cNvSpPr>
            <a:spLocks noGrp="1"/>
          </p:cNvSpPr>
          <p:nvPr>
            <p:ph idx="1"/>
          </p:nvPr>
        </p:nvSpPr>
        <p:spPr/>
        <p:txBody>
          <a:bodyPr/>
          <a:lstStyle/>
          <a:p>
            <a:r>
              <a:t>年間必要予算（3機分・概算）： ¥200,000</a:t>
            </a:r>
          </a:p>
          <a:p/>
          <a:p>
            <a:r>
              <a:t>・機体パーツ（40% / ¥80,000）：FC、ESC、モーター、バッテリー等</a:t>
            </a:r>
          </a:p>
          <a:p>
            <a:r>
              <a:t>・位置推定センサー（25% / ¥50,000）：オプティカルフロー、LiDAR等</a:t>
            </a:r>
          </a:p>
          <a:p>
            <a:r>
              <a:t>・通信機器（20% / ¥40,000）：送受信機、Raspberry Pi等</a:t>
            </a:r>
          </a:p>
          <a:p>
            <a:r>
              <a:t>・予備費・その他（15% / ¥30,000）：予備パーツ、交通費、資料印刷等</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ご支援プラン</a:t>
            </a:r>
          </a:p>
        </p:txBody>
      </p:sp>
      <p:sp>
        <p:nvSpPr>
          <p:cNvPr id="3" name="Content Placeholder 2"/>
          <p:cNvSpPr>
            <a:spLocks noGrp="1"/>
          </p:cNvSpPr>
          <p:nvPr>
            <p:ph idx="1"/>
          </p:nvPr>
        </p:nvSpPr>
        <p:spPr/>
        <p:txBody>
          <a:bodyPr/>
          <a:lstStyle/>
          <a:p>
            <a:r>
              <a:t>■ SILVERプラン（¥30,000〜）</a:t>
            </a:r>
          </a:p>
          <a:p>
            <a:pPr lvl="1"/>
            <a:r>
              <a:t>    SNS等でのロゴ掲載 ・ 活動報告書の共有 ・ 理大祭へのご招待</a:t>
            </a:r>
          </a:p>
          <a:p/>
          <a:p>
            <a:r>
              <a:t>■ GOLDプラン（¥70,000〜）</a:t>
            </a:r>
          </a:p>
          <a:p>
            <a:pPr lvl="1"/>
            <a:r>
              <a:t>    Silverの全特典 ＋ 機体へのロゴ掲載 ・ 技術レポート共有 ・ ショー当日VIP席</a:t>
            </a:r>
          </a:p>
          <a:p/>
          <a:p>
            <a:r>
              <a:t>■ PLATINUMプラン（¥100,000〜）</a:t>
            </a:r>
          </a:p>
          <a:p>
            <a:pPr lvl="1"/>
            <a:r>
              <a:t>    Goldの全特典 ＋ ショー冠スポンサー ・ 技術交流会招待 ・ メディア発信時の連名 ・ 採用活動のご支援</a:t>
            </a:r>
          </a:p>
          <a:p/>
          <a:p>
            <a:r>
              <a:t>💡 物資支援も歓迎します（パーツ提供・工具貸与・技術指導など）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ご支援企業へのリターン</a:t>
            </a:r>
          </a:p>
        </p:txBody>
      </p:sp>
      <p:sp>
        <p:nvSpPr>
          <p:cNvPr id="3" name="Content Placeholder 2"/>
          <p:cNvSpPr>
            <a:spLocks noGrp="1"/>
          </p:cNvSpPr>
          <p:nvPr>
            <p:ph idx="1"/>
          </p:nvPr>
        </p:nvSpPr>
        <p:spPr/>
        <p:txBody>
          <a:bodyPr/>
          <a:lstStyle/>
          <a:p>
            <a:r>
              <a:t>・ブランド露出：機体ロゴ掲載、理大祭ブース表示、SNS/Web紹介</a:t>
            </a:r>
          </a:p>
          <a:p>
            <a:r>
              <a:t>・技術情報：定期活動報告、技術レポート（設計・制御）、映像提供</a:t>
            </a:r>
          </a:p>
          <a:p>
            <a:r>
              <a:t>・イベント：理大祭ドローンショー優先招待、技術交流会</a:t>
            </a:r>
          </a:p>
          <a:p>
            <a:r>
              <a:t>・リクルーティング：35名の理工系人材との接点、説明会案内</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2026年度 開発ロードマップ</a:t>
            </a:r>
          </a:p>
        </p:txBody>
      </p:sp>
      <p:sp>
        <p:nvSpPr>
          <p:cNvPr id="3" name="Content Placeholder 2"/>
          <p:cNvSpPr>
            <a:spLocks noGrp="1"/>
          </p:cNvSpPr>
          <p:nvPr>
            <p:ph idx="1"/>
          </p:nvPr>
        </p:nvSpPr>
        <p:spPr/>
        <p:txBody>
          <a:bodyPr/>
          <a:lstStyle/>
          <a:p>
            <a:r>
              <a:t>■ Phase 1：〜9月（飛行ロボットコンテスト）</a:t>
            </a:r>
          </a:p>
          <a:p>
            <a:pPr lvl="1"/>
            <a:r>
              <a:t>    自作機体の設計・製作、単機での飛行制御確立、コンテストでの実証</a:t>
            </a:r>
          </a:p>
          <a:p/>
          <a:p>
            <a:r>
              <a:t>■ Phase 2：10月〜11月（ドローンショーへの転換）</a:t>
            </a:r>
          </a:p>
          <a:p>
            <a:pPr lvl="1"/>
            <a:r>
              <a:t>    群制御システムの実装、位置推定センサーの統合、理大祭でのショー本番</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